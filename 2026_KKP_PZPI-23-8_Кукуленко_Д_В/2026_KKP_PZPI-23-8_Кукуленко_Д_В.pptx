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1554480" cy="320040"/>
          </a:xfrm>
          <a:prstGeom prst="rect">
            <a:avLst/>
          </a:prstGeom>
        </p:spPr>
      </p:pic>
      <p:pic>
        <p:nvPicPr>
          <p:cNvPr id="3" name="Image 1" descr="/mnt/data/template_extract/ppt/media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64592"/>
            <a:ext cx="1325880" cy="3200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44368" y="987552"/>
            <a:ext cx="0" cy="868680"/>
          </a:xfrm>
          <a:prstGeom prst="line">
            <a:avLst/>
          </a:prstGeom>
          <a:noFill/>
          <a:ln w="16510">
            <a:solidFill>
              <a:srgbClr val="B77A3A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2944368" y="987552"/>
            <a:ext cx="822960" cy="0"/>
          </a:xfrm>
          <a:prstGeom prst="line">
            <a:avLst/>
          </a:prstGeom>
          <a:noFill/>
          <a:ln w="16510">
            <a:solidFill>
              <a:srgbClr val="B77A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657600" y="94183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Інформаційно-аналітична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оптимізації умов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утримання акваріумних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гідробіонтів (фронтенд)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8010144" y="2779776"/>
            <a:ext cx="0" cy="868680"/>
          </a:xfrm>
          <a:prstGeom prst="line">
            <a:avLst/>
          </a:prstGeom>
          <a:noFill/>
          <a:ln w="16510">
            <a:solidFill>
              <a:srgbClr val="B77A3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87184" y="3648456"/>
            <a:ext cx="822960" cy="0"/>
          </a:xfrm>
          <a:prstGeom prst="line">
            <a:avLst/>
          </a:prstGeom>
          <a:noFill/>
          <a:ln w="16510">
            <a:solidFill>
              <a:srgbClr val="B77A3A"/>
            </a:solidFill>
            <a:prstDash val="solid"/>
          </a:ln>
        </p:spPr>
      </p:sp>
      <p:pic>
        <p:nvPicPr>
          <p:cNvPr id="9" name="Image 2" descr="/mnt/data/template_extract/ppt/media/imag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480560"/>
            <a:ext cx="86868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464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Кукуленко Денис Васильович ПЗПІ-23-8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Керівник доц. кафедри ПІ Ірина Побіженко</a:t>
            </a:r>
            <a:endParaRPr lang="en-US" sz="1020" dirty="0"/>
          </a:p>
        </p:txBody>
      </p:sp>
      <p:sp>
        <p:nvSpPr>
          <p:cNvPr id="11" name="Text 6"/>
          <p:cNvSpPr/>
          <p:nvPr/>
        </p:nvSpPr>
        <p:spPr>
          <a:xfrm>
            <a:off x="4754880" y="5120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червня 2026</a:t>
            </a:r>
            <a:endParaRPr lang="en-US" sz="1020" dirty="0"/>
          </a:p>
        </p:txBody>
      </p:sp>
      <p:pic>
        <p:nvPicPr>
          <p:cNvPr id="12" name="Image 3" descr="/mnt/data/template_extract/ppt/media/imag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 роботи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Мета: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проєктування та розробка клієнтської частини комплексної інформаційно-аналітичної веб-платформи «AquaCore» для оптимізації умов утримання акваріумних гідробіонтів.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Актуальність: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користувачеві потрібен єдиний вебінтерфейс для ведення акваріумів, контролю параметрів, планування догляду, роботи з довідниками та швидкого доступу до інструментів без розрізнених сервісів.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64808" y="3675888"/>
            <a:ext cx="4535424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6" name="Image 0" descr="/mnt/data/image(505).png">    </p:cNvPr>
          <p:cNvPicPr>
            <a:picLocks noChangeAspect="1"/>
          </p:cNvPicPr>
          <p:nvPr/>
        </p:nvPicPr>
        <p:blipFill>
          <a:blip r:embed="rId1"/>
          <a:srcRect l="0" r="0" t="8917" b="8917"/>
          <a:stretch/>
        </p:blipFill>
        <p:spPr>
          <a:xfrm>
            <a:off x="6492240" y="3703320"/>
            <a:ext cx="448056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539496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Лендинг і презентація продукту</a:t>
            </a:r>
            <a:endParaRPr lang="en-US" sz="850" dirty="0"/>
          </a:p>
        </p:txBody>
      </p:sp>
      <p:pic>
        <p:nvPicPr>
          <p:cNvPr id="8" name="Image 1" descr="/mnt/data/template_extract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Аналіз аналогів: Aquarimate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17320" y="2057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ED8B00"/>
                </a:solidFill>
              </a:rPr>
              <a:t>🐠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6400800" y="173736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мобільний застосунок для ведення журналу акваріума.
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Спрямованість: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фіксація параметрів води, нагадування та базова історія догляду.
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відсутність повноцінної веб-платформи, закрита екосистема та обмежена адаптація під роботу з великим екраном.</a:t>
            </a:r>
            <a:endParaRPr lang="en-US" sz="1220" dirty="0"/>
          </a:p>
        </p:txBody>
      </p:sp>
      <p:pic>
        <p:nvPicPr>
          <p:cNvPr id="5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Аналіз аналогів: Aquabuildr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1828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2B7C5"/>
                </a:solidFill>
              </a:rPr>
              <a:t>↗</a:t>
            </a:r>
            <a:endParaRPr lang="en-US" sz="11200" dirty="0"/>
          </a:p>
        </p:txBody>
      </p:sp>
      <p:sp>
        <p:nvSpPr>
          <p:cNvPr id="4" name="Text 2"/>
          <p:cNvSpPr/>
          <p:nvPr/>
        </p:nvSpPr>
        <p:spPr>
          <a:xfrm>
            <a:off x="6400800" y="1737360"/>
            <a:ext cx="4206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мобільний застосунок з алгоритмом перевірки сумісності.
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Спрямованість: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підбір населення на основі бази видів і AI-консультацій.
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преміум-доступ, відсутність відкритого вебпростору, обмежена інтеграція з журналами, аналітикою та UI-модулями.</a:t>
            </a:r>
            <a:endParaRPr lang="en-US" sz="1220" dirty="0"/>
          </a:p>
        </p:txBody>
      </p:sp>
      <p:pic>
        <p:nvPicPr>
          <p:cNvPr id="5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Аналіз аналогів: Aquarium Tracker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25880" y="17373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0" dirty="0">
                <a:solidFill>
                  <a:srgbClr val="22B8CF"/>
                </a:solidFill>
              </a:rPr>
              <a:t>💧</a:t>
            </a:r>
            <a:endParaRPr lang="en-US" sz="11200" dirty="0"/>
          </a:p>
        </p:txBody>
      </p:sp>
      <p:sp>
        <p:nvSpPr>
          <p:cNvPr id="4" name="Text 2"/>
          <p:cNvSpPr/>
          <p:nvPr/>
        </p:nvSpPr>
        <p:spPr>
          <a:xfrm>
            <a:off x="6400800" y="1737360"/>
            <a:ext cx="4206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кросплатформний сервіс моніторингу екосистеми.
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Спрямованість: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облік хімії води, обладнання і базова соціальна взаємодія.
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</a:t>
            </a:r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часткова веб-версія, недостатньо розвинена структура UI, обмежена деталізація сценаріїв користувача.</a:t>
            </a:r>
            <a:endParaRPr lang="en-US" sz="1220" dirty="0"/>
          </a:p>
        </p:txBody>
      </p:sp>
      <p:pic>
        <p:nvPicPr>
          <p:cNvPr id="5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Матриця виявлених прогалин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256032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14904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Критерій</a:t>
            </a:r>
            <a:endParaRPr lang="en-US" sz="910" dirty="0"/>
          </a:p>
        </p:txBody>
      </p:sp>
      <p:sp>
        <p:nvSpPr>
          <p:cNvPr id="5" name="Shape 3"/>
          <p:cNvSpPr/>
          <p:nvPr/>
        </p:nvSpPr>
        <p:spPr>
          <a:xfrm>
            <a:off x="3429000" y="1417320"/>
            <a:ext cx="160020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65576" y="149047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Aquarimate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5029200" y="1417320"/>
            <a:ext cx="160020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65776" y="149047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Aquabuildr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6629400" y="1417320"/>
            <a:ext cx="201168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5976" y="14904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Aquarium Tracker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8641080" y="1417320"/>
            <a:ext cx="246888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77656" y="14904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AquaCore frontend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868680" y="1984248"/>
            <a:ext cx="256032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0574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Повноцінна веб-версія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3429000" y="1984248"/>
            <a:ext cx="16002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20574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5029200" y="1984248"/>
            <a:ext cx="16002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05740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629400" y="1984248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5976" y="2057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Частково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8641080" y="1984248"/>
            <a:ext cx="24688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77656" y="20574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868680" y="2551176"/>
            <a:ext cx="256032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262432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Єдиний робочий простір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3429000" y="2551176"/>
            <a:ext cx="1600200" cy="566928"/>
          </a:xfrm>
          <a:prstGeom prst="rect">
            <a:avLst/>
          </a:prstGeom>
          <a:solidFill>
            <a:srgbClr val="D2D2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2624328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Частково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5029200" y="2551176"/>
            <a:ext cx="1600200" cy="566928"/>
          </a:xfrm>
          <a:prstGeom prst="rect">
            <a:avLst/>
          </a:prstGeom>
          <a:solidFill>
            <a:srgbClr val="D2D2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5776" y="2624328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6629400" y="2551176"/>
            <a:ext cx="2011680" cy="566928"/>
          </a:xfrm>
          <a:prstGeom prst="rect">
            <a:avLst/>
          </a:prstGeom>
          <a:solidFill>
            <a:srgbClr val="D2D2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65976" y="262432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Частково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8641080" y="2551176"/>
            <a:ext cx="2468880" cy="566928"/>
          </a:xfrm>
          <a:prstGeom prst="rect">
            <a:avLst/>
          </a:prstGeom>
          <a:solidFill>
            <a:srgbClr val="D2D2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77656" y="262432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868680" y="3118104"/>
            <a:ext cx="256032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19125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для сумісності видів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3429000" y="3118104"/>
            <a:ext cx="16002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65576" y="3191256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Базовий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5029200" y="3118104"/>
            <a:ext cx="16002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3191256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Розширений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6629400" y="3118104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65976" y="319125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Базовий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8641080" y="3118104"/>
            <a:ext cx="24688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77656" y="319125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Розширений</a:t>
            </a:r>
            <a:endParaRPr lang="en-US" sz="910" dirty="0"/>
          </a:p>
        </p:txBody>
      </p:sp>
      <p:sp>
        <p:nvSpPr>
          <p:cNvPr id="43" name="Shape 41"/>
          <p:cNvSpPr/>
          <p:nvPr/>
        </p:nvSpPr>
        <p:spPr>
          <a:xfrm>
            <a:off x="868680" y="3685032"/>
            <a:ext cx="256032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" y="375818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Довідники + статті + відгуки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3429000" y="3685032"/>
            <a:ext cx="1600200" cy="566928"/>
          </a:xfrm>
          <a:prstGeom prst="rect">
            <a:avLst/>
          </a:prstGeom>
          <a:solidFill>
            <a:srgbClr val="D2D2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5576" y="3758184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</a:t>
            </a:r>
            <a:endParaRPr lang="en-US" sz="910" dirty="0"/>
          </a:p>
        </p:txBody>
      </p:sp>
      <p:sp>
        <p:nvSpPr>
          <p:cNvPr id="47" name="Shape 45"/>
          <p:cNvSpPr/>
          <p:nvPr/>
        </p:nvSpPr>
        <p:spPr>
          <a:xfrm>
            <a:off x="5029200" y="3685032"/>
            <a:ext cx="1600200" cy="566928"/>
          </a:xfrm>
          <a:prstGeom prst="rect">
            <a:avLst/>
          </a:prstGeom>
          <a:solidFill>
            <a:srgbClr val="D2D2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65776" y="3758184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Частково</a:t>
            </a:r>
            <a:endParaRPr lang="en-US" sz="910" dirty="0"/>
          </a:p>
        </p:txBody>
      </p:sp>
      <p:sp>
        <p:nvSpPr>
          <p:cNvPr id="49" name="Shape 47"/>
          <p:cNvSpPr/>
          <p:nvPr/>
        </p:nvSpPr>
        <p:spPr>
          <a:xfrm>
            <a:off x="6629400" y="3685032"/>
            <a:ext cx="2011680" cy="566928"/>
          </a:xfrm>
          <a:prstGeom prst="rect">
            <a:avLst/>
          </a:prstGeom>
          <a:solidFill>
            <a:srgbClr val="D2D2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5976" y="375818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Частково</a:t>
            </a:r>
            <a:endParaRPr lang="en-US" sz="910" dirty="0"/>
          </a:p>
        </p:txBody>
      </p:sp>
      <p:sp>
        <p:nvSpPr>
          <p:cNvPr id="51" name="Shape 49"/>
          <p:cNvSpPr/>
          <p:nvPr/>
        </p:nvSpPr>
        <p:spPr>
          <a:xfrm>
            <a:off x="8641080" y="3685032"/>
            <a:ext cx="2468880" cy="566928"/>
          </a:xfrm>
          <a:prstGeom prst="rect">
            <a:avLst/>
          </a:prstGeom>
          <a:solidFill>
            <a:srgbClr val="D2D2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77656" y="375818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</a:t>
            </a:r>
            <a:endParaRPr lang="en-US" sz="910" dirty="0"/>
          </a:p>
        </p:txBody>
      </p:sp>
      <p:sp>
        <p:nvSpPr>
          <p:cNvPr id="53" name="Shape 51"/>
          <p:cNvSpPr/>
          <p:nvPr/>
        </p:nvSpPr>
        <p:spPr>
          <a:xfrm>
            <a:off x="868680" y="4251960"/>
            <a:ext cx="2560320" cy="566928"/>
          </a:xfrm>
          <a:prstGeom prst="rect">
            <a:avLst/>
          </a:prstGeom>
          <a:solidFill>
            <a:srgbClr val="7A3F0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5256" y="432511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Адаптивний інтерфейс</a:t>
            </a:r>
            <a:endParaRPr lang="en-US" sz="910" dirty="0"/>
          </a:p>
        </p:txBody>
      </p:sp>
      <p:sp>
        <p:nvSpPr>
          <p:cNvPr id="55" name="Shape 53"/>
          <p:cNvSpPr/>
          <p:nvPr/>
        </p:nvSpPr>
        <p:spPr>
          <a:xfrm>
            <a:off x="3429000" y="4251960"/>
            <a:ext cx="16002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65576" y="432511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Обмежено</a:t>
            </a:r>
            <a:endParaRPr lang="en-US" sz="910" dirty="0"/>
          </a:p>
        </p:txBody>
      </p:sp>
      <p:sp>
        <p:nvSpPr>
          <p:cNvPr id="57" name="Shape 55"/>
          <p:cNvSpPr/>
          <p:nvPr/>
        </p:nvSpPr>
        <p:spPr>
          <a:xfrm>
            <a:off x="5029200" y="4251960"/>
            <a:ext cx="16002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65776" y="4325112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Обмежено</a:t>
            </a:r>
            <a:endParaRPr lang="en-US" sz="910" dirty="0"/>
          </a:p>
        </p:txBody>
      </p:sp>
      <p:sp>
        <p:nvSpPr>
          <p:cNvPr id="59" name="Shape 57"/>
          <p:cNvSpPr/>
          <p:nvPr/>
        </p:nvSpPr>
        <p:spPr>
          <a:xfrm>
            <a:off x="6629400" y="4251960"/>
            <a:ext cx="20116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65976" y="432511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Частково</a:t>
            </a:r>
            <a:endParaRPr lang="en-US" sz="910" dirty="0"/>
          </a:p>
        </p:txBody>
      </p:sp>
      <p:sp>
        <p:nvSpPr>
          <p:cNvPr id="61" name="Shape 59"/>
          <p:cNvSpPr/>
          <p:nvPr/>
        </p:nvSpPr>
        <p:spPr>
          <a:xfrm>
            <a:off x="8641080" y="4251960"/>
            <a:ext cx="24688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77656" y="432511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</a:t>
            </a:r>
            <a:endParaRPr lang="en-US" sz="910" dirty="0"/>
          </a:p>
        </p:txBody>
      </p:sp>
      <p:pic>
        <p:nvPicPr>
          <p:cNvPr id="63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64" name="Shape 61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задачі та опис системи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508760"/>
            <a:ext cx="99669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створити вебінтерфейс для CRUD-управління профілями акваріумів та їхніми подіями;</a:t>
            </a:r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20" dirty="0"/>
          </a:p>
          <a:p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реалізувати приватний робочий простір з бічною навігацією і захищеними сторінками;</a:t>
            </a:r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20" dirty="0"/>
          </a:p>
          <a:p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забезпечити інтеграцію з REST API для акваріумів, обладнання, задач, тестів, статей і відгуків;</a:t>
            </a:r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20" dirty="0"/>
          </a:p>
          <a:p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відобразити аналітичні графіки, журнали, empty-state блоки, модальні вікна та повідомлення про помилки.</a:t>
            </a:r>
            <a:endParaRPr lang="en-US" sz="1320" dirty="0"/>
          </a:p>
        </p:txBody>
      </p:sp>
      <p:pic>
        <p:nvPicPr>
          <p:cNvPr id="4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Вибір технологій розробки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реалізації клієнтської частини обрано сучасний стек вебтехнологій, який забезпечує швидку розробку, компонентність, адаптивність та зручну інтеграцію з бекендом.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3317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3172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24688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27706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маршрутизація, SSR/API routes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20440" y="23317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33172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24688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1608" y="27706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компоненти, хуки, стан UI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3317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331720"/>
            <a:ext cx="73152" cy="960120"/>
          </a:xfrm>
          <a:prstGeom prst="rect">
            <a:avLst/>
          </a:prstGeom>
          <a:solidFill>
            <a:srgbClr val="E986C0"/>
          </a:solidFill>
          <a:ln w="12700">
            <a:solidFill>
              <a:srgbClr val="E98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24688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27706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адаптивна стилізація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49640" y="23317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331720"/>
            <a:ext cx="73152" cy="960120"/>
          </a:xfrm>
          <a:prstGeom prst="rect">
            <a:avLst/>
          </a:prstGeom>
          <a:solidFill>
            <a:srgbClr val="6A58FF"/>
          </a:solidFill>
          <a:ln w="12700">
            <a:solidFill>
              <a:srgbClr val="6A5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0808" y="24688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50808" y="27706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анімації появи та hover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40280" y="37033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3703320"/>
            <a:ext cx="73152" cy="960120"/>
          </a:xfrm>
          <a:prstGeom prst="rect">
            <a:avLst/>
          </a:prstGeom>
          <a:solidFill>
            <a:srgbClr val="B77A3A"/>
          </a:solidFill>
          <a:ln w="12700">
            <a:solidFill>
              <a:srgbClr val="B77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38404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lucide-react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41448" y="41422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іконки навігації та дій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703320"/>
            <a:ext cx="73152" cy="960120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8404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Image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41422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оптимізація зображень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69480" y="37033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3703320"/>
            <a:ext cx="73152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0648" y="38404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70648" y="41422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розгортання frontend</a:t>
            </a:r>
            <a:endParaRPr lang="en-US" sz="950" dirty="0"/>
          </a:p>
        </p:txBody>
      </p:sp>
      <p:pic>
        <p:nvPicPr>
          <p:cNvPr id="32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Загальна архітектурна модель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17320"/>
            <a:ext cx="73152" cy="960120"/>
          </a:xfrm>
          <a:prstGeom prst="rect">
            <a:avLst/>
          </a:prstGeom>
          <a:solidFill>
            <a:srgbClr val="6A58FF"/>
          </a:solidFill>
          <a:ln w="12700">
            <a:solidFill>
              <a:srgbClr val="6A5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55448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Публічна зона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9848" y="1856232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лендинг, вхід, реєстрація, відновлення пароля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0" y="14173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17320"/>
            <a:ext cx="73152" cy="960120"/>
          </a:xfrm>
          <a:prstGeom prst="rect">
            <a:avLst/>
          </a:prstGeom>
          <a:solidFill>
            <a:srgbClr val="B77A3A"/>
          </a:solidFill>
          <a:ln w="12700">
            <a:solidFill>
              <a:srgbClr val="B7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155448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Приватна зона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27648" y="1856232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робочий простір, акваріуми, журнали, аналітика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68680" y="27889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788920"/>
            <a:ext cx="73152" cy="960120"/>
          </a:xfrm>
          <a:prstGeom prst="rect">
            <a:avLst/>
          </a:prstGeom>
          <a:solidFill>
            <a:srgbClr val="6A58FF"/>
          </a:solidFill>
          <a:ln w="12700">
            <a:solidFill>
              <a:srgbClr val="6A5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92608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API-шар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848" y="3227832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proxy routes, додавання JWT, обробка помилок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7889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788920"/>
            <a:ext cx="73152" cy="960120"/>
          </a:xfrm>
          <a:prstGeom prst="rect">
            <a:avLst/>
          </a:prstGeom>
          <a:solidFill>
            <a:srgbClr val="B77A3A"/>
          </a:solidFill>
          <a:ln w="12700">
            <a:solidFill>
              <a:srgbClr val="B7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92608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Компоненти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3227832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Sidebar, cards, modals, filters, forms, empty states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41605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60520"/>
            <a:ext cx="73152" cy="960120"/>
          </a:xfrm>
          <a:prstGeom prst="rect">
            <a:avLst/>
          </a:prstGeom>
          <a:solidFill>
            <a:srgbClr val="6A58FF"/>
          </a:solidFill>
          <a:ln w="12700">
            <a:solidFill>
              <a:srgbClr val="6A5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29768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 клієнта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9848" y="4599432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token, user, filters, loading, error, modal state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41605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4160520"/>
            <a:ext cx="73152" cy="960120"/>
          </a:xfrm>
          <a:prstGeom prst="rect">
            <a:avLst/>
          </a:prstGeom>
          <a:solidFill>
            <a:srgbClr val="B77A3A"/>
          </a:solidFill>
          <a:ln w="12700">
            <a:solidFill>
              <a:srgbClr val="B77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429768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бекенду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7648" y="4599432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акваріуми, тести, статті, галерея, обладнання</a:t>
            </a:r>
            <a:endParaRPr lang="en-US" sz="950" dirty="0"/>
          </a:p>
        </p:txBody>
      </p:sp>
      <p:pic>
        <p:nvPicPr>
          <p:cNvPr id="27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Топологія взаємодії та розгортання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6012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7947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/ Vercel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554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Cloudinary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20624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⚛️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54380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🧩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01268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☁️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3749040"/>
            <a:ext cx="102412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працює у браузері користувача без встановлення застосунку;</a:t>
            </a:r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запити до персональних даних проходять через API-шар із токеном авторизації;</a:t>
            </a:r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файли та зображення відображаються через оптимізовані URL і Next Image;</a:t>
            </a:r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40" dirty="0"/>
          </a:p>
          <a:p>
            <a:r>
              <a:rPr lang="en-US" sz="12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розгортання фронтенду відокремлене від серверної частини, що спрощує масштабування.</a:t>
            </a:r>
            <a:endParaRPr lang="en-US" sz="1240" dirty="0"/>
          </a:p>
        </p:txBody>
      </p:sp>
      <p:pic>
        <p:nvPicPr>
          <p:cNvPr id="12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зберігання стану та даних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137160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71600"/>
            <a:ext cx="73152" cy="1143000"/>
          </a:xfrm>
          <a:prstGeom prst="rect">
            <a:avLst/>
          </a:prstGeom>
          <a:solidFill>
            <a:srgbClr val="6A58FF"/>
          </a:solidFill>
          <a:ln w="12700">
            <a:solidFill>
              <a:srgbClr val="6A5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5087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Авторизаційний стан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9848" y="1810512"/>
            <a:ext cx="28254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access_token, user_role, profile data, redirect після входу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371600"/>
            <a:ext cx="73152" cy="1143000"/>
          </a:xfrm>
          <a:prstGeom prst="rect">
            <a:avLst/>
          </a:prstGeom>
          <a:solidFill>
            <a:srgbClr val="B77A3A"/>
          </a:solidFill>
          <a:ln w="12700">
            <a:solidFill>
              <a:srgbClr val="B7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5087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 сторінки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6008" y="1810512"/>
            <a:ext cx="28254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error, selected aquarium, активна вкладка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01000" y="137160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1371600"/>
            <a:ext cx="73152" cy="1143000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5087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 форм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02168" y="1810512"/>
            <a:ext cx="28254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значення полів, FormData, файл зображення, валідація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297180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97180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1089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Фільтри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848" y="3410712"/>
            <a:ext cx="28254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пошук, категорії, типи статей, параметри довідників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297180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2971800"/>
            <a:ext cx="73152" cy="1143000"/>
          </a:xfrm>
          <a:prstGeom prst="rect">
            <a:avLst/>
          </a:prstGeom>
          <a:solidFill>
            <a:srgbClr val="E986C0"/>
          </a:solidFill>
          <a:ln w="12700">
            <a:solidFill>
              <a:srgbClr val="E986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1089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Підготовка даних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36008" y="3410712"/>
            <a:ext cx="28254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дати, статуси, одиниці вимірювання, fallback-зображення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01000" y="297180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2971800"/>
            <a:ext cx="73152" cy="1143000"/>
          </a:xfrm>
          <a:prstGeom prst="rect">
            <a:avLst/>
          </a:prstGeom>
          <a:solidFill>
            <a:srgbClr val="E73737"/>
          </a:solidFill>
          <a:ln w="12700">
            <a:solidFill>
              <a:srgbClr val="E737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2168" y="310896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дії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02168" y="3410712"/>
            <a:ext cx="28254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оновлення списку, закриття модалки, повідомлення користувачу</a:t>
            </a:r>
            <a:endParaRPr lang="en-US" sz="950" dirty="0"/>
          </a:p>
        </p:txBody>
      </p:sp>
      <p:pic>
        <p:nvPicPr>
          <p:cNvPr id="27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Реалізація ПЗ: API-шар та авторизація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00200"/>
            <a:ext cx="539496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apiRequest(url, options = {})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localStorage.getItem("access_token");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headers = { ...options.headers,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...(token ? { Authorization: `Bearer ${token}` } : {})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fetch(url, { ...options, headers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throw new Error("Помилка запиту");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res.json();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858000" y="155448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Рішення:
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винесення роботи з API в окрему функцію з автоматичним додаванням JWT.
</a:t>
            </a:r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Перевага:
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приватні сторінки мають однакову логіку авторизації, обробки помилок і повторного використання запитів.</a:t>
            </a:r>
            <a:endParaRPr lang="en-US" sz="1230" dirty="0"/>
          </a:p>
        </p:txBody>
      </p:sp>
      <p:pic>
        <p:nvPicPr>
          <p:cNvPr id="5" name="Image 0" descr="/mnt/data/template_extract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Реалізація ПЗ: маршрутизація і приватний простір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86968" y="1389888"/>
            <a:ext cx="4809744" cy="3392424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4" name="Image 0" descr="/mnt/data/image(506).png">    </p:cNvPr>
          <p:cNvPicPr>
            <a:picLocks noChangeAspect="1"/>
          </p:cNvPicPr>
          <p:nvPr/>
        </p:nvPicPr>
        <p:blipFill>
          <a:blip r:embed="rId1"/>
          <a:srcRect l="8793" r="8793" t="0" b="0"/>
          <a:stretch/>
        </p:blipFill>
        <p:spPr>
          <a:xfrm>
            <a:off x="914400" y="1417320"/>
            <a:ext cx="475488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80060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Сторінка «Мої акваріуми»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0" y="1554480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Приватні сторінки:
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доступні після входу; sidebar групує модулі за сценаріями роботи.
</a:t>
            </a:r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Ключова логіка:
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активний пункт меню підсвічується, профіль користувача показується внизу, картки акваріумів відкривають деталі та швидкі дії.</a:t>
            </a:r>
            <a:endParaRPr lang="en-US" sz="1230" dirty="0"/>
          </a:p>
        </p:txBody>
      </p:sp>
      <p:pic>
        <p:nvPicPr>
          <p:cNvPr id="7" name="Image 1" descr="/mnt/data/template_extract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Реалізація ПЗ: динамічні індикатори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calcPercent(lastServiceDate, intervalDays) {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start = new Date(lastServiceDate).getTime();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total = intervalDays * 86400000;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passed = Math.max(0, Date.now() - start);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remaining = Math.max(0, total - passed);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Math.round((remaining / total) * 100);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464808" y="1389888"/>
            <a:ext cx="4535424" cy="26151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5" name="Image 0" descr="/mnt/data/image(508).png">    </p:cNvPr>
          <p:cNvPicPr>
            <a:picLocks noChangeAspect="1"/>
          </p:cNvPicPr>
          <p:nvPr/>
        </p:nvPicPr>
        <p:blipFill>
          <a:blip r:embed="rId1"/>
          <a:srcRect l="10716" r="10716" t="0" b="0"/>
          <a:stretch/>
        </p:blipFill>
        <p:spPr>
          <a:xfrm>
            <a:off x="6492240" y="1417320"/>
            <a:ext cx="448056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402336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Індикатори обслуговування обладнання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14400" y="42519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Індикатор показує не виконану частину, а залишок часу до сервісу: після обслуговування 100%, із наближенням дати — до 0%.</a:t>
            </a:r>
            <a:endParaRPr lang="en-US" sz="1300" dirty="0"/>
          </a:p>
        </p:txBody>
      </p:sp>
      <p:pic>
        <p:nvPicPr>
          <p:cNvPr id="8" name="Image 1" descr="/mnt/data/template_extract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користувача: управління екосистемами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86968" y="1389888"/>
            <a:ext cx="4809744" cy="3163824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4" name="Image 0" descr="/mnt/data/image(506).png">    </p:cNvPr>
          <p:cNvPicPr>
            <a:picLocks noChangeAspect="1"/>
          </p:cNvPicPr>
          <p:nvPr/>
        </p:nvPicPr>
        <p:blipFill>
          <a:blip r:embed="rId1"/>
          <a:srcRect l="5763" r="5763" t="0" b="0"/>
          <a:stretch/>
        </p:blipFill>
        <p:spPr>
          <a:xfrm>
            <a:off x="914400" y="1417320"/>
            <a:ext cx="475488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57200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Картки акваріумів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0" y="150876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акваріумів: 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показує фото, об’єм, населення, останній тест і швидкі дії.
</a:t>
            </a:r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Перевага UI: 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користувач бачить стан кожної екосистеми без переходу в кілька розділів.
</a:t>
            </a:r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Empty-state: 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акваріумів немає, система підказує створити перший профіль.</a:t>
            </a:r>
            <a:endParaRPr lang="en-US" sz="1230" dirty="0"/>
          </a:p>
        </p:txBody>
      </p:sp>
      <p:pic>
        <p:nvPicPr>
          <p:cNvPr id="7" name="Image 1" descr="/mnt/data/template_extract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користувача: хронологія та обладнання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95528" y="1298448"/>
            <a:ext cx="5084064" cy="2660904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4" name="Image 0" descr="/mnt/data/image(507).png">    </p:cNvPr>
          <p:cNvPicPr>
            <a:picLocks noChangeAspect="1"/>
          </p:cNvPicPr>
          <p:nvPr/>
        </p:nvPicPr>
        <p:blipFill>
          <a:blip r:embed="rId1"/>
          <a:srcRect l="7172" r="7172" t="0" b="0"/>
          <a:stretch/>
        </p:blipFill>
        <p:spPr>
          <a:xfrm>
            <a:off x="822960" y="1325880"/>
            <a:ext cx="5029200" cy="2606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9776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Хронологія подій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190488" y="1298448"/>
            <a:ext cx="5084064" cy="2660904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7" name="Image 1" descr="/mnt/data/image(508).png">    </p:cNvPr>
          <p:cNvPicPr>
            <a:picLocks noChangeAspect="1"/>
          </p:cNvPicPr>
          <p:nvPr/>
        </p:nvPicPr>
        <p:blipFill>
          <a:blip r:embed="rId2"/>
          <a:srcRect l="6680" r="6680" t="0" b="0"/>
          <a:stretch/>
        </p:blipFill>
        <p:spPr>
          <a:xfrm>
            <a:off x="6217920" y="1325880"/>
            <a:ext cx="5029200" cy="2606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39776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Обладнання та інвентар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914400" y="4251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Хронологія: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автоматичний журнал системних подій, фільтри за типами та виділення критичних станів.
</a:t>
            </a:r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Обладнання: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картки пристроїв, сервісний інтервал, прогрес до обслуговування і швидка фіксація сервісу.</a:t>
            </a:r>
            <a:endParaRPr lang="en-US" sz="1250" dirty="0"/>
          </a:p>
        </p:txBody>
      </p:sp>
      <p:pic>
        <p:nvPicPr>
          <p:cNvPr id="10" name="Image 2" descr="/mnt/data/template_extract/ppt/media/imag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користувача: аналітика показників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86968" y="1298448"/>
            <a:ext cx="5449824" cy="3209544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4" name="Image 0" descr="/mnt/data/image(509).png">    </p:cNvPr>
          <p:cNvPicPr>
            <a:picLocks noChangeAspect="1"/>
          </p:cNvPicPr>
          <p:nvPr/>
        </p:nvPicPr>
        <p:blipFill>
          <a:blip r:embed="rId1"/>
          <a:srcRect l="11715" r="11715" t="0" b="0"/>
          <a:stretch/>
        </p:blipFill>
        <p:spPr>
          <a:xfrm>
            <a:off x="914400" y="1325880"/>
            <a:ext cx="539496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52628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Графік pH та оптимальна зона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12280" y="15544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Візуалізація трендів:
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інтерактивні графіки показують зміну параметрів у часі.
</a:t>
            </a:r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Параметри:
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pH, GH, KH, аміак, нітрити, нітрати.
</a:t>
            </a:r>
            <a:pPr indent="0" marL="0">
              <a:buNone/>
            </a:pPr>
            <a:r>
              <a:rPr lang="en-US" sz="12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Експорт:
</a:t>
            </a:r>
            <a:pPr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експорту даних для подальшого аналізу або звітності.</a:t>
            </a:r>
            <a:endParaRPr lang="en-US" sz="1230" dirty="0"/>
          </a:p>
        </p:txBody>
      </p:sp>
      <p:pic>
        <p:nvPicPr>
          <p:cNvPr id="7" name="Image 1" descr="/mnt/data/template_extract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користувача: щоденник, задачі та підміни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49808" y="1298448"/>
            <a:ext cx="3575304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4" name="Image 0" descr="/mnt/data/image(510).png">    </p:cNvPr>
          <p:cNvPicPr>
            <a:picLocks noChangeAspect="1"/>
          </p:cNvPicPr>
          <p:nvPr/>
        </p:nvPicPr>
        <p:blipFill>
          <a:blip r:embed="rId1"/>
          <a:srcRect l="13273" r="13273" t="0" b="0"/>
          <a:stretch/>
        </p:blipFill>
        <p:spPr>
          <a:xfrm>
            <a:off x="777240" y="1325880"/>
            <a:ext cx="352044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47472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Щоденник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453128" y="1298448"/>
            <a:ext cx="3575304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7" name="Image 1" descr="/mnt/data/image(511).png">    </p:cNvPr>
          <p:cNvPicPr>
            <a:picLocks noChangeAspect="1"/>
          </p:cNvPicPr>
          <p:nvPr/>
        </p:nvPicPr>
        <p:blipFill>
          <a:blip r:embed="rId2"/>
          <a:srcRect l="13481" r="13481" t="0" b="0"/>
          <a:stretch/>
        </p:blipFill>
        <p:spPr>
          <a:xfrm>
            <a:off x="4480560" y="1325880"/>
            <a:ext cx="352044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0560" y="347472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List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8156448" y="1298448"/>
            <a:ext cx="3300984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10" name="Image 2" descr="/mnt/data/image(512).png">    </p:cNvPr>
          <p:cNvPicPr>
            <a:picLocks noChangeAspect="1"/>
          </p:cNvPicPr>
          <p:nvPr/>
        </p:nvPicPr>
        <p:blipFill>
          <a:blip r:embed="rId3"/>
          <a:srcRect l="15493" r="15493" t="0" b="0"/>
          <a:stretch/>
        </p:blipFill>
        <p:spPr>
          <a:xfrm>
            <a:off x="8183880" y="1325880"/>
            <a:ext cx="3246120" cy="2103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3880" y="34747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Графік підмін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Щоденник спостережень: </a:t>
            </a:r>
            <a:pPr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пошук, теги, фото та фіксація подій.
</a:t>
            </a:r>
            <a:pPr indent="0" marL="0">
              <a:buNone/>
            </a:pPr>
            <a:r>
              <a:rPr lang="en-US" sz="12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Планування: </a:t>
            </a:r>
            <a:pPr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календар, фільтри, прострочені задачі, створення нової дії.
</a:t>
            </a:r>
            <a:pPr indent="0" marL="0">
              <a:buNone/>
            </a:pPr>
            <a:r>
              <a:rPr lang="en-US" sz="12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Підміни води: </a:t>
            </a:r>
            <a:pPr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розрахунок підготовленої води на основі об’єму акваріума.</a:t>
            </a:r>
            <a:endParaRPr lang="en-US" sz="1240" dirty="0"/>
          </a:p>
        </p:txBody>
      </p:sp>
      <p:pic>
        <p:nvPicPr>
          <p:cNvPr id="13" name="Image 3" descr="/mnt/data/template_extract/ppt/media/imag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Тестування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600200"/>
            <a:ext cx="978408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перевірено сценарії входу, Google OAuth, виходу та доступу до приватних сторінок;</a:t>
            </a:r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протестовано створення, редагування та видалення акваріумів, задач, статей, записів щоденника і фото;</a:t>
            </a:r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перевірено обробку помилок API: 400, 401, 422, 500 та відображення повідомлень користувачу;</a:t>
            </a:r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проведено візуальне тестування адаптивності, карток, модальних вікон, фільтрів і графіків.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607808" y="4498848"/>
            <a:ext cx="3163824" cy="1197864"/>
          </a:xfrm>
          <a:prstGeom prst="roundRect">
            <a:avLst>
              <a:gd name="adj" fmla="val 7634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5" name="Image 0" descr="/mnt/data/image(515).png">    </p:cNvPr>
          <p:cNvPicPr>
            <a:picLocks noChangeAspect="1"/>
          </p:cNvPicPr>
          <p:nvPr/>
        </p:nvPicPr>
        <p:blipFill>
          <a:blip r:embed="rId1"/>
          <a:srcRect l="0" r="0" t="8531" b="8531"/>
          <a:stretch/>
        </p:blipFill>
        <p:spPr>
          <a:xfrm>
            <a:off x="7635240" y="4526280"/>
            <a:ext cx="310896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57150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Довідник видів під час перевірки</a:t>
            </a:r>
            <a:endParaRPr lang="en-US" sz="850" dirty="0"/>
          </a:p>
        </p:txBody>
      </p:sp>
      <p:pic>
        <p:nvPicPr>
          <p:cNvPr id="7" name="Image 1" descr="/mnt/data/template_extract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49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Підсумки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5840" y="1508760"/>
            <a:ext cx="5989320" cy="283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спроєктовано і реалізовано клієнтську частину системи AquaCore;</a:t>
            </a:r>
            <a:pPr indent="0" marL="0">
              <a:buNone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створено приватний робочий простір з навігацією, картками, фільтрами, формами та модальними вікнами;</a:t>
            </a:r>
            <a:pPr indent="0" marL="0">
              <a:buNone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забезпечено взаємодію з REST API, авторизацію через JWT та сценарій Google OAuth;</a:t>
            </a:r>
            <a:pPr indent="0" marL="0">
              <a:buNone/>
            </a:pPr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реалізовано модулі акваріумів, хронології, обладнання, аналітики, щоденника, задач, підмін, довідників, калькуляторів і бази знань.</a:t>
            </a:r>
            <a:endParaRPr lang="en-US" sz="1210" dirty="0"/>
          </a:p>
        </p:txBody>
      </p:sp>
      <p:sp>
        <p:nvSpPr>
          <p:cNvPr id="4" name="Shape 2"/>
          <p:cNvSpPr/>
          <p:nvPr/>
        </p:nvSpPr>
        <p:spPr>
          <a:xfrm>
            <a:off x="7607808" y="3493008"/>
            <a:ext cx="3300984" cy="1380744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pic>
        <p:nvPicPr>
          <p:cNvPr id="5" name="Image 0" descr="/mnt/data/image(514).png">    </p:cNvPr>
          <p:cNvPicPr>
            <a:picLocks noChangeAspect="1"/>
          </p:cNvPicPr>
          <p:nvPr/>
        </p:nvPicPr>
        <p:blipFill>
          <a:blip r:embed="rId1"/>
          <a:srcRect l="0" r="0" t="4390" b="4390"/>
          <a:stretch/>
        </p:blipFill>
        <p:spPr>
          <a:xfrm>
            <a:off x="7635240" y="3520440"/>
            <a:ext cx="324612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489204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Фінальний інтерфейс інструментів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72668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5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Дякую за увагу!</a:t>
            </a:r>
            <a:endParaRPr lang="en-US" sz="1800" dirty="0"/>
          </a:p>
        </p:txBody>
      </p:sp>
      <p:pic>
        <p:nvPicPr>
          <p:cNvPr id="8" name="Image 1" descr="/mnt/data/template_extract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25312"/>
            <a:ext cx="77724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6437376"/>
            <a:ext cx="11201400" cy="0"/>
          </a:xfrm>
          <a:prstGeom prst="line">
            <a:avLst/>
          </a:prstGeom>
          <a:noFill/>
          <a:ln w="17780">
            <a:solidFill>
              <a:srgbClr val="B77A3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475720" y="6144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ХНУРЕ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Інформаційно-аналітична система оптимізації умов утримання акваріумних гідробіонтів (фронтенд)</dc:title>
  <dc:subject>AquaCore frontend</dc:subject>
  <dc:creator>Денис Кукуленко</dc:creator>
  <cp:lastModifiedBy>Денис Кукуленко</cp:lastModifiedBy>
  <cp:revision>1</cp:revision>
  <dcterms:created xsi:type="dcterms:W3CDTF">2026-06-01T14:50:51Z</dcterms:created>
  <dcterms:modified xsi:type="dcterms:W3CDTF">2026-06-01T14:50:51Z</dcterms:modified>
</cp:coreProperties>
</file>